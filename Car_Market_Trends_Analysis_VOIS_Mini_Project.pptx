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3"/>
  </p:notesMasterIdLst>
  <p:handoutMasterIdLst>
    <p:handoutMasterId r:id="rId14"/>
  </p:handoutMasterIdLst>
  <p:sldIdLst>
    <p:sldId id="338" r:id="rId5"/>
    <p:sldId id="327" r:id="rId6"/>
    <p:sldId id="315" r:id="rId7"/>
    <p:sldId id="329" r:id="rId8"/>
    <p:sldId id="302" r:id="rId9"/>
    <p:sldId id="339" r:id="rId10"/>
    <p:sldId id="340" r:id="rId11"/>
    <p:sldId id="30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8/27/2026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8/27/2026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8/27/2026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_chart1.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_chart2.png"/><Relationship Id="rId5" Type="http://schemas.openxmlformats.org/officeDocument/2006/relationships/image" Target="../media/image_chart3.png"/></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 Id="rId10" Type="http://schemas.openxmlformats.org/officeDocument/2006/relationships/hyperlink" Target="https://github.com/Vishalavalige/car-market-trends-analysi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pPr algn="r"/>
            <a:r>
              <a:rPr lang="en-US" b="0" dirty="0">
                <a:solidFill>
                  <a:schemeClr val="tx1"/>
                </a:solidFill>
              </a:rPr>
              <a:t>Vishala Valige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a:bodyPr>
          <a:lstStyle/>
          <a:p>
            <a:r>
              <a:rPr lang="en-GB" sz="3200" dirty="0"/>
              <a:t>Car Market Trends Analysis with CarDekho Data</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312871" y="3256384"/>
            <a:ext cx="3176362" cy="369332"/>
          </a:xfrm>
          <a:prstGeom prst="rect">
            <a:avLst/>
          </a:prstGeom>
          <a:noFill/>
        </p:spPr>
        <p:txBody>
          <a:bodyPr wrap="square" rtlCol="0">
            <a:spAutoFit/>
          </a:bodyPr>
          <a:lstStyle/>
          <a:p>
            <a:r>
              <a:rPr lang="en-US" b="1" dirty="0"/>
              <a:t>AICTE STU ID : </a:t>
            </a:r>
            <a:r>
              <a:rPr lang="en-US" b="0" dirty="0"/>
              <a:t>STU69f08d1ccdd421777372444</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lstStyle/>
          <a:p>
            <a:pPr>
              <a:lnSpc>
                <a:spcPct val="130000"/>
              </a:lnSpc>
            </a:pPr>
            <a:r>
              <a:rPr lang="en-US" sz="1600" dirty="0"/>
              <a:t>Used car buyers and sellers often lack a reliable, data-driven way to judge fair resale value. Prices depend on many interacting factors — fuel type, transmission, mileage, ownership history and vehicle age — which makes manual pricing inconsistent and confusing.</a:t>
            </a:r>
          </a:p>
          <a:p>
            <a:pPr>
              <a:lnSpc>
                <a:spcPct val="130000"/>
              </a:lnSpc>
            </a:pPr>
            <a:r>
              <a:rPr lang="en-US" sz="1600" dirty="0"/>
              <a:t>This project analyzes 300+ real CarDekho used-car listings to uncover the key drivers of resale price and support smarter buying and selling decisions.</a:t>
            </a:r>
            <a:endParaRPr lang="en-IN" sz="16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3300000"/>
          </a:xfrm>
        </p:spPr>
        <p:txBody>
          <a:bodyPr>
            <a:normAutofit/>
          </a:bodyPr>
          <a:lstStyle/>
          <a:p>
            <a:r>
              <a:rPr lang="en-GB" dirty="0"/>
              <a:t>Project Description</a:t>
            </a:r>
            <a:br>
              <a:rPr lang="en-GB" dirty="0"/>
            </a:br>
            <a:br>
              <a:rPr lang="en-GB" sz="1000" dirty="0"/>
            </a:br>
            <a:r>
              <a:rPr lang="en-GB" sz="1800" b="0" dirty="0"/>
              <a:t>A hands-on data analytics project exploring real used-car listings from CarDekho to understand what actually drives resale price in the Indian second-hand car market.</a:t>
            </a:r>
            <a:br>
              <a:rPr lang="en-GB" sz="1800" b="0" dirty="0"/>
            </a:br>
            <a:br>
              <a:rPr lang="en-GB" sz="1800" b="0" dirty="0"/>
            </a:br>
            <a:r>
              <a:rPr lang="en-GB" sz="1800" b="0" dirty="0"/>
              <a:t>Using Python and Pandas, a dataset of 301 cars (model years 2003–2018) was cleaned and analyzed across fuel type, transmission, seller type, mileage, ownership history and vehicle age to surface pricing patterns buyers, sellers and dealers can act on.</a:t>
            </a:r>
            <a:endParaRPr lang="en-IN" sz="18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l">
              <a:lnSpc>
                <a:spcPct val="130000"/>
              </a:lnSpc>
              <a:buFont typeface="Arial"/>
              <a:buChar char="•"/>
            </a:pPr>
            <a:r>
              <a:rPr lang="en-US" sz="2200" dirty="0"/>
              <a:t>Used car buyers who want a fair, data-backed sense of a vehicle's worth before purchasing</a:t>
            </a:r>
          </a:p>
          <a:p>
            <a:pPr algn="l">
              <a:lnSpc>
                <a:spcPct val="130000"/>
              </a:lnSpc>
              <a:buFont typeface="Arial"/>
              <a:buChar char="•"/>
            </a:pPr>
            <a:r>
              <a:rPr lang="en-US" sz="2200" dirty="0"/>
              <a:t>Individual sellers deciding how to price their car to sell quickly and fairly</a:t>
            </a:r>
          </a:p>
          <a:p>
            <a:pPr algn="l">
              <a:lnSpc>
                <a:spcPct val="130000"/>
              </a:lnSpc>
              <a:buFont typeface="Arial"/>
              <a:buChar char="•"/>
            </a:pPr>
            <a:r>
              <a:rPr lang="en-US" sz="2200" dirty="0"/>
              <a:t>Car dealerships and resale platforms (e.g. CarDekho) refining pricing recommendations</a:t>
            </a:r>
          </a:p>
          <a:p>
            <a:pPr algn="l">
              <a:lnSpc>
                <a:spcPct val="130000"/>
              </a:lnSpc>
              <a:buFont typeface="Arial"/>
              <a:buChar char="•"/>
            </a:pPr>
            <a:r>
              <a:rPr lang="en-US" sz="2200" dirty="0"/>
              <a:t>Loan and insurance providers estimating vehicle valuation</a:t>
            </a:r>
          </a:p>
          <a:p>
            <a:pPr algn="l">
              <a:lnSpc>
                <a:spcPct val="130000"/>
              </a:lnSpc>
              <a:buFont typeface="Arial"/>
              <a:buChar char="•"/>
            </a:pPr>
            <a:r>
              <a:rPr lang="en-US" sz="2200" dirty="0"/>
              <a:t>Analysts and students studying trends in the automotive resale market</a:t>
            </a:r>
            <a:endParaRPr lang="en-IN" sz="22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0000" y="1432560"/>
            <a:ext cx="7468320" cy="5243448"/>
          </a:xfrm>
        </p:spPr>
        <p:txBody>
          <a:bodyPr/>
          <a:lstStyle/>
          <a:p>
            <a:pPr lvl="1">
              <a:lnSpc>
                <a:spcPct val="150000"/>
              </a:lnSpc>
              <a:buFont typeface="Arial"/>
              <a:buChar char="•"/>
            </a:pPr>
            <a:r>
              <a:rPr lang="en-US" sz="2000" dirty="0"/>
              <a:t>Python (Pandas, NumPy) – data cleaning &amp; analysis</a:t>
            </a:r>
          </a:p>
          <a:p>
            <a:pPr lvl="1">
              <a:lnSpc>
                <a:spcPct val="150000"/>
              </a:lnSpc>
              <a:buFont typeface="Arial"/>
              <a:buChar char="•"/>
            </a:pPr>
            <a:r>
              <a:rPr lang="en-US" sz="2000" dirty="0"/>
              <a:t>Matplotlib &amp; Seaborn – data visualization</a:t>
            </a:r>
          </a:p>
          <a:p>
            <a:pPr lvl="1">
              <a:lnSpc>
                <a:spcPct val="150000"/>
              </a:lnSpc>
              <a:buFont typeface="Arial"/>
              <a:buChar char="•"/>
            </a:pPr>
            <a:r>
              <a:rPr lang="en-US" sz="2000" dirty="0"/>
              <a:t>Jupyter Notebook – exploratory data analysis</a:t>
            </a:r>
          </a:p>
          <a:p>
            <a:pPr lvl="1">
              <a:lnSpc>
                <a:spcPct val="150000"/>
              </a:lnSpc>
              <a:buFont typeface="Arial"/>
              <a:buChar char="•"/>
            </a:pPr>
            <a:r>
              <a:rPr lang="en-US" sz="2000" dirty="0"/>
              <a:t>CSV Dataset – CarDekho used car listings (301 records, 9 features)</a:t>
            </a:r>
          </a:p>
          <a:p>
            <a:pPr lvl="1">
              <a:lnSpc>
                <a:spcPct val="150000"/>
              </a:lnSpc>
              <a:buFont typeface="Arial"/>
              <a:buChar char="•"/>
            </a:pPr>
            <a:r>
              <a:rPr lang="en-US" sz="2000" dirty="0"/>
              <a:t>Git &amp; GitHub – version control and submission</a:t>
            </a:r>
            <a:endParaRPr lang="en-IN" sz="20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675957" y="6280000"/>
            <a:ext cx="7000000" cy="33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1400" i="1"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75957" y="1150000"/>
            <a:ext cx="10500000" cy="420000"/>
          </a:xfrm>
        </p:spPr>
        <p:txBody>
          <a:bodyPr/>
          <a:lstStyle/>
          <a:p>
            <a:pPr marL="0" indent="0">
              <a:buNone/>
            </a:pPr>
            <a:r>
              <a:rPr lang="en-US" sz="1900" b="1" dirty="0"/>
              <a:t>Average Selling Price by Fuel Type &amp; Transmission</a:t>
            </a:r>
            <a:endParaRPr lang="en-IN" sz="1900" b="1" dirty="0"/>
          </a:p>
        </p:txBody>
      </p:sp>
      <p:pic>
        <p:nvPicPr>
          <p:cNvPr id="20" name="Chart Fuel Transmission"/>
          <p:cNvPicPr>
            <a:picLocks noChangeAspect="1"/>
          </p:cNvPicPr>
          <p:nvPr/>
        </p:nvPicPr>
        <p:blipFill>
          <a:blip r:embed="rId4"/>
          <a:stretch>
            <a:fillRect/>
          </a:stretch>
        </p:blipFill>
        <p:spPr>
          <a:xfrm>
            <a:off x="2048300" y="2000000"/>
            <a:ext cx="8095400" cy="3200000"/>
          </a:xfrm>
          <a:prstGeom prst="rect">
            <a:avLst/>
          </a:prstGeom>
        </p:spPr>
      </p:pic>
      <p:sp>
        <p:nvSpPr>
          <p:cNvPr id="21" name="Insight Text"/>
          <p:cNvSpPr txBox="1"/>
          <p:nvPr/>
        </p:nvSpPr>
        <p:spPr>
          <a:xfrm>
            <a:off x="675957" y="5350000"/>
            <a:ext cx="10500000" cy="1200000"/>
          </a:xfrm>
          <a:prstGeom prst="rect">
            <a:avLst/>
          </a:prstGeom>
        </p:spPr>
        <p:txBody>
          <a:bodyPr wrap="square" lIns="0" tIns="0" rIns="0" bIns="0">
            <a:noAutofit/>
          </a:bodyPr>
          <a:lstStyle/>
          <a:p>
            <a:pPr>
              <a:lnSpc>
                <a:spcPct val="130000"/>
              </a:lnSpc>
            </a:pPr>
            <a:r>
              <a:rPr lang="en-US" sz="1400" i="1" dirty="0">
                <a:solidFill>
                  <a:schemeClr val="tx1">
                    <a:lumMod val="65000"/>
                    <a:lumOff val="35000"/>
                  </a:schemeClr>
                </a:solidFill>
              </a:rPr>
              <a:t>Insight: Diesel and automatic-transmission cars fetch roughly 2–3x higher average resale prices than petrol/manual cars.</a:t>
            </a:r>
          </a:p>
          <a:p>
            <a:pPr>
              <a:lnSpc>
                <a:spcPct val="130000"/>
              </a:lnSpc>
            </a:pPr>
            <a:r>
              <a:rPr lang="en-US" sz="1200" i="1" dirty="0">
                <a:solidFill>
                  <a:schemeClr val="tx1">
                    <a:lumMod val="55000"/>
                    <a:lumOff val="45000"/>
                  </a:schemeClr>
                </a:solidFill>
              </a:rPr>
              <a:t>Source: CarDekho Used Car Price dataset (Kaggle) – 301 listings, 2003–2018</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675957" y="6300000"/>
            <a:ext cx="7000000" cy="33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1400" i="1"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7" y="1150000"/>
            <a:ext cx="10500000" cy="420000"/>
          </a:xfrm>
        </p:spPr>
        <p:txBody>
          <a:bodyPr/>
          <a:lstStyle/>
          <a:p>
            <a:pPr marL="0" indent="0">
              <a:buNone/>
            </a:pPr>
            <a:r>
              <a:rPr lang="en-US" sz="1900" b="1" dirty="0"/>
              <a:t>Price Relationships &amp; Year-wise Trend</a:t>
            </a:r>
            <a:endParaRPr lang="en-IN" sz="1900" b="1" dirty="0"/>
          </a:p>
        </p:txBody>
      </p:sp>
      <p:pic>
        <p:nvPicPr>
          <p:cNvPr id="20" name="Chart Scatter"/>
          <p:cNvPicPr>
            <a:picLocks noChangeAspect="1"/>
          </p:cNvPicPr>
          <p:nvPr/>
        </p:nvPicPr>
        <p:blipFill>
          <a:blip r:embed="rId4"/>
          <a:stretch>
            <a:fillRect/>
          </a:stretch>
        </p:blipFill>
        <p:spPr>
          <a:xfrm>
            <a:off x="700000" y="2000000"/>
            <a:ext cx="4575600" cy="3100000"/>
          </a:xfrm>
          <a:prstGeom prst="rect">
            <a:avLst/>
          </a:prstGeom>
        </p:spPr>
      </p:pic>
      <p:pic>
        <p:nvPicPr>
          <p:cNvPr id="22" name="Chart Trend"/>
          <p:cNvPicPr>
            <a:picLocks noChangeAspect="1"/>
          </p:cNvPicPr>
          <p:nvPr/>
        </p:nvPicPr>
        <p:blipFill>
          <a:blip r:embed="rId5"/>
          <a:stretch>
            <a:fillRect/>
          </a:stretch>
        </p:blipFill>
        <p:spPr>
          <a:xfrm>
            <a:off x="6316400" y="2000000"/>
            <a:ext cx="4575600" cy="3100000"/>
          </a:xfrm>
          <a:prstGeom prst="rect">
            <a:avLst/>
          </a:prstGeom>
        </p:spPr>
      </p:pic>
      <p:sp>
        <p:nvSpPr>
          <p:cNvPr id="21" name="Insight Text"/>
          <p:cNvSpPr txBox="1"/>
          <p:nvPr/>
        </p:nvSpPr>
        <p:spPr>
          <a:xfrm>
            <a:off x="675957" y="5200000"/>
            <a:ext cx="10500000" cy="1400000"/>
          </a:xfrm>
          <a:prstGeom prst="rect">
            <a:avLst/>
          </a:prstGeom>
        </p:spPr>
        <p:txBody>
          <a:bodyPr wrap="square" lIns="0" tIns="0" rIns="0" bIns="0">
            <a:noAutofit/>
          </a:bodyPr>
          <a:lstStyle/>
          <a:p>
            <a:pPr>
              <a:lnSpc>
                <a:spcPct val="130000"/>
              </a:lnSpc>
            </a:pPr>
            <a:r>
              <a:rPr lang="en-US" sz="1400" i="1" dirty="0">
                <a:solidFill>
                  <a:schemeClr val="tx1">
                    <a:lumMod val="65000"/>
                    <a:lumOff val="35000"/>
                  </a:schemeClr>
                </a:solidFill>
              </a:rPr>
              <a:t>Insight: Selling price closely tracks present price (r ≈ 0.88), the strongest predictor of resale value.</a:t>
            </a:r>
          </a:p>
          <a:p>
            <a:pPr>
              <a:lnSpc>
                <a:spcPct val="130000"/>
              </a:lnSpc>
            </a:pPr>
            <a:r>
              <a:rPr lang="en-US" sz="1400" i="1" dirty="0">
                <a:solidFill>
                  <a:schemeClr val="tx1">
                    <a:lumMod val="65000"/>
                    <a:lumOff val="35000"/>
                  </a:schemeClr>
                </a:solidFill>
              </a:rPr>
              <a:t>Newer cars (post-2015) fetch higher prices from lower mileage and less depreciation.</a:t>
            </a:r>
          </a:p>
          <a:p>
            <a:pPr>
              <a:lnSpc>
                <a:spcPct val="130000"/>
              </a:lnSpc>
            </a:pPr>
            <a:r>
              <a:rPr lang="en-US" sz="1200" i="1" dirty="0">
                <a:solidFill>
                  <a:schemeClr val="tx1">
                    <a:lumMod val="55000"/>
                    <a:lumOff val="45000"/>
                  </a:schemeClr>
                </a:solidFill>
              </a:rPr>
              <a:t>Source: CarDekho Used Car Price dataset (Kaggle) – 301 listings, 2003–2018</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
        <p:nvSpPr>
          <p:cNvPr id="99" name="GitHub Link"/>
          <p:cNvSpPr txBox="1"/>
          <p:nvPr/>
        </p:nvSpPr>
        <p:spPr>
          <a:xfrm>
            <a:off x="754602" y="2100000"/>
            <a:ext cx="6995604" cy="500000"/>
          </a:xfrm>
          <a:prstGeom prst="rect">
            <a:avLst/>
          </a:prstGeom>
        </p:spPr>
        <p:txBody>
          <a:bodyPr wrap="square" lIns="0" tIns="0" rIns="0" bIns="0">
            <a:noAutofit/>
          </a:bodyPr>
          <a:lstStyle/>
          <a:p>
            <a:r>
              <a:rPr lang="en-US" sz="1600" b="1" dirty="0">
                <a:solidFill>
                  <a:schemeClr val="tx1"/>
                </a:solidFill>
              </a:rPr>
              <a:t>GitHub: </a:t>
            </a:r>
            <a:r>
              <a:rPr lang="en-US" sz="1600" u="sng" dirty="0">
                <a:solidFill>
                  <a:srgbClr val="0070C0"/>
                </a:solidFill>
                <a:hlinkClick r:id="rId10"/>
              </a:rPr>
              <a:t>github.com/Vishalavalige/car-market-trends-analysis</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552</TotalTime>
  <Words>62</Words>
  <Application>Microsoft Office PowerPoint</Application>
  <PresentationFormat>Widescreen</PresentationFormat>
  <Paragraphs>17</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74</cp:revision>
  <dcterms:created xsi:type="dcterms:W3CDTF">2021-07-11T13:13:15Z</dcterms:created>
  <dcterms:modified xsi:type="dcterms:W3CDTF">2026-08-27T14:04:10Z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